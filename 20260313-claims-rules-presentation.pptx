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AACCFF"/>
                </a:solidFill>
              </a:defRPr>
            </a:pPr>
            <a:r>
              <a:t>MICROSOFT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Azure Healthcare Claims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DFF"/>
                </a:solidFill>
              </a:defRPr>
            </a:pPr>
            <a:r>
              <a:t>AI-Powered Claims Adjudication, Fraud Detection &amp; Quality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931920"/>
            <a:ext cx="1920240" cy="36576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.NET 8 + .NET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931920"/>
            <a:ext cx="1920240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Azure FHIR R4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931920"/>
            <a:ext cx="1920240" cy="3657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Serverless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59" y="3931920"/>
            <a:ext cx="1920240" cy="36576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HIPAA Compliant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AADD"/>
                </a:solidFill>
              </a:defRPr>
            </a:pPr>
            <a:r>
              <a:t>March 2026  |  Full Bundle  |  Internal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Problem We're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CC"/>
                </a:solidFill>
              </a:defRPr>
            </a:pPr>
            <a:r>
              <a:t>Healthcare payers face immense operational and financial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1920240"/>
          </a:xfrm>
          <a:prstGeom prst="roundRect">
            <a:avLst/>
          </a:prstGeom>
          <a:solidFill>
            <a:srgbClr val="222238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</a:defRPr>
            </a:pPr>
            <a:r>
              <a:t>Claims Leakage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</a:defRPr>
            </a:pPr>
            <a:r>
              <a:t>Manual adjudication allows 3-5% of claims to be overpaid or underpaid, costing billions annually.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029200" cy="1920240"/>
          </a:xfrm>
          <a:prstGeom prst="roundRect">
            <a:avLst/>
          </a:prstGeom>
          <a:solidFill>
            <a:srgbClr val="222238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62828"/>
                </a:solidFill>
              </a:defRPr>
            </a:pPr>
            <a:r>
              <a:t>Fraud Detection 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</a:defRPr>
            </a:pPr>
            <a:r>
              <a:t>Traditional rules miss sophisticated fraud patterns like impossible travel and provider anomalies.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029200" cy="1920240"/>
          </a:xfrm>
          <a:prstGeom prst="roundRect">
            <a:avLst/>
          </a:prstGeom>
          <a:solidFill>
            <a:srgbClr val="222238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5100"/>
                </a:solidFill>
              </a:defRPr>
            </a:pPr>
            <a:r>
              <a:t>Quality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</a:defRPr>
            </a:pPr>
            <a:r>
              <a:t>HEDIS quality reporting requires tracking 13+ measures across prevention, chronic care, and behavioral health.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029200" cy="1920240"/>
          </a:xfrm>
          <a:prstGeom prst="roundRect">
            <a:avLst/>
          </a:prstGeom>
          <a:solidFill>
            <a:srgbClr val="222238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114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1FA2"/>
                </a:solidFill>
              </a:defRPr>
            </a:pPr>
            <a:r>
              <a:t>Patient Fragmentation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</a:defRPr>
            </a:pPr>
            <a:r>
              <a:t>Duplicate patient records across systems lead to billing errors and missed care gaps.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Full-Stack Claims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DDFF"/>
                </a:solidFill>
              </a:defRPr>
            </a:pPr>
            <a:r>
              <a:t>One platform covering the entire claims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474720" cy="2103120"/>
          </a:xfrm>
          <a:prstGeom prst="roundRect">
            <a:avLst/>
          </a:prstGeom>
          <a:solidFill>
            <a:srgbClr val="002050"/>
          </a:solidFill>
          <a:ln w="19050">
            <a:solidFill>
              <a:srgbClr val="4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39"/>
            <a:ext cx="31089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⚙️ Claims Engine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4-Step Adjudication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Medical/Dental/Pharmacy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Real-Time Validation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EOB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554480"/>
            <a:ext cx="3474720" cy="2103120"/>
          </a:xfrm>
          <a:prstGeom prst="roundRect">
            <a:avLst/>
          </a:prstGeom>
          <a:solidFill>
            <a:srgbClr val="1B5E20"/>
          </a:solidFill>
          <a:ln w="19050">
            <a:solidFill>
              <a:srgbClr val="4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59" y="1691639"/>
            <a:ext cx="31089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💊 Multi-Benefit Mgmt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Accumulator Tracking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Formulary Management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5-Tier Drug Copays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Medicare Part 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554480"/>
            <a:ext cx="3474720" cy="2103120"/>
          </a:xfrm>
          <a:prstGeom prst="roundRect">
            <a:avLst/>
          </a:prstGeom>
          <a:solidFill>
            <a:srgbClr val="4A148C"/>
          </a:solidFill>
          <a:ln w="19050">
            <a:solidFill>
              <a:srgbClr val="4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9" y="1691639"/>
            <a:ext cx="31089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🔍 Fraud Detection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Risk Score 0-100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Impossible Travel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Duplicate Claims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Provider Anomaly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23360"/>
            <a:ext cx="3474720" cy="2103120"/>
          </a:xfrm>
          <a:prstGeom prst="roundRect">
            <a:avLst/>
          </a:prstGeom>
          <a:solidFill>
            <a:srgbClr val="BF360C"/>
          </a:solidFill>
          <a:ln w="19050">
            <a:solidFill>
              <a:srgbClr val="4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31089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📊 HEDIS Quality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13 Measures / 6 Domains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Gaps-in-Care Scoring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Member Outreach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Plan Accreditation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4023360"/>
            <a:ext cx="3474720" cy="2103120"/>
          </a:xfrm>
          <a:prstGeom prst="roundRect">
            <a:avLst/>
          </a:prstGeom>
          <a:solidFill>
            <a:srgbClr val="006064"/>
          </a:solidFill>
          <a:ln w="19050">
            <a:solidFill>
              <a:srgbClr val="4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4160520"/>
            <a:ext cx="31089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👤 Master Data Mgmt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Patient Dedup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Golden Record Linking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SSN/MRN/Phonetic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AI Fuzzy Matching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4023360"/>
            <a:ext cx="3474720" cy="2103120"/>
          </a:xfrm>
          <a:prstGeom prst="roundRect">
            <a:avLst/>
          </a:prstGeom>
          <a:solidFill>
            <a:srgbClr val="8B2B0A"/>
          </a:solidFill>
          <a:ln w="19050">
            <a:solidFill>
              <a:srgbClr val="4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4160520"/>
            <a:ext cx="31089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📈 Actuarial &amp; SDOH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HCC Risk Scoring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Population Analytics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Social Determinants</a:t>
            </a:r>
          </a:p>
          <a:p>
            <a:pPr>
              <a:spcBef>
                <a:spcPts val="300"/>
              </a:spcBef>
              <a:defRPr sz="1100">
                <a:solidFill>
                  <a:srgbClr val="DDDDEE"/>
                </a:solidFill>
              </a:defRPr>
            </a:pPr>
            <a:r>
              <a:t>  → ICD-10 Mapping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Cloud-native serverless architecture on Azure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698480" cy="8686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43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47A1"/>
                </a:solidFill>
              </a:defRPr>
            </a:pPr>
            <a:r>
              <a:t>Blazor WebAssembly (.NET 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</a:defRPr>
            </a:pPr>
            <a:r>
              <a:t>Claims Mgmt | Engine | Eligibility | Benefits | Formulary | Fraud | HEDIS | MDM | Actuarial | Member Portal | AI NLP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920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88"/>
                </a:solidFill>
              </a:defRPr>
            </a:pPr>
            <a:r>
              <a:t>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39"/>
            <a:ext cx="10698480" cy="86868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945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148C"/>
                </a:solidFill>
              </a:defRPr>
            </a:pPr>
            <a:r>
              <a:t>Azure Functions (.NET 8 Isolated)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1459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</a:defRPr>
            </a:pPr>
            <a:r>
              <a:t>RulesEngine | Benefits | CsvIngest | EdiIngest | EOB | ProviderNetwork | Audit | HEDIS | MDM  |  Consumption Y1 (FREE)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97179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88"/>
                </a:solidFill>
              </a:defRPr>
            </a:pPr>
            <a:r>
              <a:t>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10698480" cy="86868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7E"/>
                </a:solidFill>
              </a:defRPr>
            </a:pPr>
            <a:r>
              <a:t>Azure Platform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66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</a:defRPr>
            </a:pPr>
            <a:r>
              <a:t>AHDS FHIR R4  |  Cosmos DB (Serverless)  |  ADLS Gen2  |  Event Grid  |  App Insights  |  Log Analytics  |  Static Web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023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88"/>
                </a:solidFill>
              </a:defRPr>
            </a:pPr>
            <a:r>
              <a:t>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51959"/>
            <a:ext cx="10698480" cy="86868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976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80E4F"/>
                </a:solidFill>
              </a:defRPr>
            </a:pPr>
            <a:r>
              <a:t>Fabric F2 (Optional Analytics)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17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</a:defRPr>
            </a:pPr>
            <a:r>
              <a:t>OneLake Shortcuts  |  Lakehouse SQL  |  Power BI DirectLake  |  Data Pipelines  |  Auto-Pause 6PM (Logic Apps)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5074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88"/>
                </a:solidFill>
              </a:defRPr>
            </a:pPr>
            <a:r>
              <a:t>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349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5E20"/>
                </a:solidFill>
              </a:defRPr>
            </a:pPr>
            <a:r>
              <a:t>Governance &amp;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6692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6060"/>
                </a:solidFill>
              </a:defRPr>
            </a:pPr>
            <a:r>
              <a:t>Azure AD OAuth 2.0  |  Managed Identity  |  HIPAA BAA  |  OIDC CI/CD  |  Immutable Audit  |  FHIR R4 Standard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1B9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Deep Dive: 4-Step Claims Adjudication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BBEE"/>
                </a:solidFill>
              </a:defRPr>
            </a:pPr>
            <a:r>
              <a:t>Automated validation pipeline from ingestion to payment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1554480"/>
            <a:ext cx="4846320" cy="822960"/>
          </a:xfrm>
          <a:prstGeom prst="roundRect">
            <a:avLst/>
          </a:prstGeom>
          <a:solidFill>
            <a:srgbClr val="3A2A7E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00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Coverage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202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CCEE"/>
                </a:solidFill>
              </a:defRPr>
            </a:pPr>
            <a:r>
              <a:t>Query benefit plan, verify deductible and OOP maximums, check enrollment dates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74320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2651760"/>
            <a:ext cx="4846320" cy="822960"/>
          </a:xfrm>
          <a:prstGeom prst="roundRect">
            <a:avLst/>
          </a:prstGeom>
          <a:solidFill>
            <a:srgbClr val="3A2A7E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6974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Network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CCEE"/>
                </a:solidFill>
              </a:defRPr>
            </a:pPr>
            <a:r>
              <a:t>Verify provider in-network status via ProviderNetworkService, apply fee schedules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840479"/>
            <a:ext cx="548640" cy="54864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3749039"/>
            <a:ext cx="4846320" cy="822960"/>
          </a:xfrm>
          <a:prstGeom prst="roundRect">
            <a:avLst/>
          </a:prstGeom>
          <a:solidFill>
            <a:srgbClr val="3A2A7E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7947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Service Eligibility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1148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CCEE"/>
                </a:solidFill>
              </a:defRPr>
            </a:pPr>
            <a:r>
              <a:t>Validate CPT/CDT/NDC codes, check covered services, apply frequency limits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937759"/>
            <a:ext cx="548640" cy="54864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4846320"/>
            <a:ext cx="4846320" cy="822960"/>
          </a:xfrm>
          <a:prstGeom prst="roundRect">
            <a:avLst/>
          </a:prstGeom>
          <a:solidFill>
            <a:srgbClr val="3A2A7E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892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Financial Calculation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21208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CCEE"/>
                </a:solidFill>
              </a:defRPr>
            </a:pPr>
            <a:r>
              <a:t>Apply deductible → coinsurance → copay, calculate plan paid vs. patient responsibility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1554480"/>
            <a:ext cx="4572000" cy="2011680"/>
          </a:xfrm>
          <a:prstGeom prst="roundRect">
            <a:avLst/>
          </a:prstGeom>
          <a:solidFill>
            <a:srgbClr val="3A2A7E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📋 Validation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1031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BBEE"/>
                </a:solidFill>
              </a:defRPr>
            </a:pPr>
            <a:r>
              <a:t>→ Decision: Approved / Denied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37743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BBEE"/>
                </a:solidFill>
              </a:defRPr>
            </a:pPr>
            <a:r>
              <a:t>→ Plan Paid Amount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6517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BBEE"/>
                </a:solidFill>
              </a:defRPr>
            </a:pPr>
            <a:r>
              <a:t>→ Patient Responsibility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292607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BBEE"/>
                </a:solidFill>
              </a:defRPr>
            </a:pPr>
            <a:r>
              <a:t>→ Denial Reason Codes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200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BBEE"/>
                </a:solidFill>
              </a:defRPr>
            </a:pPr>
            <a:r>
              <a:t>→ Validation Messages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4747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BBEE"/>
                </a:solidFill>
              </a:defRPr>
            </a:pPr>
            <a:r>
              <a:t>→ EOB Document Generated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3840480"/>
            <a:ext cx="4572000" cy="1828800"/>
          </a:xfrm>
          <a:prstGeom prst="roundRect">
            <a:avLst/>
          </a:prstGeom>
          <a:solidFill>
            <a:srgbClr val="3A2A7E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📥 Ingestion Formats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3891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EECC"/>
                </a:solidFill>
              </a:defRPr>
            </a:pPr>
            <a:r>
              <a:t>→ CSV batch upload (CsvIngestFn)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663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EECC"/>
                </a:solidFill>
              </a:defRPr>
            </a:pPr>
            <a:r>
              <a:t>→ EDI 837 professional (EdiIngestFn)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93775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EECC"/>
                </a:solidFill>
              </a:defRPr>
            </a:pPr>
            <a:r>
              <a:t>→ Direct API submission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212079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EECC"/>
                </a:solidFill>
              </a:defRPr>
            </a:pPr>
            <a:r>
              <a:t>→ All mapped to FHIR Claim resources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0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Multi-Benefit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EEEE"/>
                </a:solidFill>
              </a:defRPr>
            </a:pPr>
            <a:r>
              <a:t>Medical, Dental, and Pharmacy benefits with real-time accumulator tracking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474720" cy="3200400"/>
          </a:xfrm>
          <a:prstGeom prst="roundRect">
            <a:avLst/>
          </a:prstGeom>
          <a:solidFill>
            <a:srgbClr val="004D40"/>
          </a:solidFill>
          <a:ln w="19050">
            <a:solidFill>
              <a:srgbClr val="4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39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🏥 Medical Benefits</a:t>
            </a:r>
          </a:p>
          <a:p>
            <a:pPr>
              <a:spcBef>
                <a:spcPts val="300"/>
              </a:spcBef>
              <a:defRPr sz="1100">
                <a:solidFill>
                  <a:srgbClr val="BBEECC"/>
                </a:solidFill>
              </a:defRPr>
            </a:pPr>
            <a:r>
              <a:t>  → Individual/Family deductible</a:t>
            </a:r>
          </a:p>
          <a:p>
            <a:pPr>
              <a:spcBef>
                <a:spcPts val="300"/>
              </a:spcBef>
              <a:defRPr sz="1100">
                <a:solidFill>
                  <a:srgbClr val="BBEECC"/>
                </a:solidFill>
              </a:defRPr>
            </a:pPr>
            <a:r>
              <a:t>  → Individual/Family OOP max</a:t>
            </a:r>
          </a:p>
          <a:p>
            <a:pPr>
              <a:spcBef>
                <a:spcPts val="300"/>
              </a:spcBef>
              <a:defRPr sz="1100">
                <a:solidFill>
                  <a:srgbClr val="BBEECC"/>
                </a:solidFill>
              </a:defRPr>
            </a:pPr>
            <a:r>
              <a:t>  → Service-specific copays</a:t>
            </a:r>
          </a:p>
          <a:p>
            <a:pPr>
              <a:spcBef>
                <a:spcPts val="300"/>
              </a:spcBef>
              <a:defRPr sz="1100">
                <a:solidFill>
                  <a:srgbClr val="BBEECC"/>
                </a:solidFill>
              </a:defRPr>
            </a:pPr>
            <a:r>
              <a:t>  → Office visit / hospital limits</a:t>
            </a:r>
          </a:p>
          <a:p>
            <a:pPr>
              <a:spcBef>
                <a:spcPts val="300"/>
              </a:spcBef>
              <a:defRPr sz="1100">
                <a:solidFill>
                  <a:srgbClr val="BBEECC"/>
                </a:solidFill>
              </a:defRPr>
            </a:pPr>
            <a:r>
              <a:t>  → In-network / out-of-network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554480"/>
            <a:ext cx="3474720" cy="3200400"/>
          </a:xfrm>
          <a:prstGeom prst="roundRect">
            <a:avLst/>
          </a:prstGeom>
          <a:solidFill>
            <a:srgbClr val="004D40"/>
          </a:solidFill>
          <a:ln w="19050">
            <a:solidFill>
              <a:srgbClr val="4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59" y="1691639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🦷 Dental Benefits</a:t>
            </a:r>
          </a:p>
          <a:p>
            <a:pPr>
              <a:spcBef>
                <a:spcPts val="300"/>
              </a:spcBef>
              <a:defRPr sz="1100">
                <a:solidFill>
                  <a:srgbClr val="BBEECC"/>
                </a:solidFill>
              </a:defRPr>
            </a:pPr>
            <a:r>
              <a:t>  → Annual maximum ($2,000)</a:t>
            </a:r>
          </a:p>
          <a:p>
            <a:pPr>
              <a:spcBef>
                <a:spcPts val="300"/>
              </a:spcBef>
              <a:defRPr sz="1100">
                <a:solidFill>
                  <a:srgbClr val="BBEECC"/>
                </a:solidFill>
              </a:defRPr>
            </a:pPr>
            <a:r>
              <a:t>  → Deductible ($50 / preventive waived)</a:t>
            </a:r>
          </a:p>
          <a:p>
            <a:pPr>
              <a:spcBef>
                <a:spcPts val="300"/>
              </a:spcBef>
              <a:defRPr sz="1100">
                <a:solidFill>
                  <a:srgbClr val="BBEECC"/>
                </a:solidFill>
              </a:defRPr>
            </a:pPr>
            <a:r>
              <a:t>  → Preventive 100% / Basic 80%</a:t>
            </a:r>
          </a:p>
          <a:p>
            <a:pPr>
              <a:spcBef>
                <a:spcPts val="300"/>
              </a:spcBef>
              <a:defRPr sz="1100">
                <a:solidFill>
                  <a:srgbClr val="BBEECC"/>
                </a:solidFill>
              </a:defRPr>
            </a:pPr>
            <a:r>
              <a:t>  → Major 50% / Ortho $1,500</a:t>
            </a:r>
          </a:p>
          <a:p>
            <a:pPr>
              <a:spcBef>
                <a:spcPts val="300"/>
              </a:spcBef>
              <a:defRPr sz="1100">
                <a:solidFill>
                  <a:srgbClr val="BBEECC"/>
                </a:solidFill>
              </a:defRPr>
            </a:pPr>
            <a:r>
              <a:t>  → Frequency limits (clean 2x/yr)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554480"/>
            <a:ext cx="3474720" cy="3200400"/>
          </a:xfrm>
          <a:prstGeom prst="roundRect">
            <a:avLst/>
          </a:prstGeom>
          <a:solidFill>
            <a:srgbClr val="004D40"/>
          </a:solidFill>
          <a:ln w="19050">
            <a:solidFill>
              <a:srgbClr val="4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9" y="1691639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💊 Pharmacy (Part D)</a:t>
            </a:r>
          </a:p>
          <a:p>
            <a:pPr>
              <a:spcBef>
                <a:spcPts val="300"/>
              </a:spcBef>
              <a:defRPr sz="1100">
                <a:solidFill>
                  <a:srgbClr val="BBEECC"/>
                </a:solidFill>
              </a:defRPr>
            </a:pPr>
            <a:r>
              <a:t>  → 5-tier copay structure</a:t>
            </a:r>
          </a:p>
          <a:p>
            <a:pPr>
              <a:spcBef>
                <a:spcPts val="300"/>
              </a:spcBef>
              <a:defRPr sz="1100">
                <a:solidFill>
                  <a:srgbClr val="BBEECC"/>
                </a:solidFill>
              </a:defRPr>
            </a:pPr>
            <a:r>
              <a:t>  → Drug deductible phase</a:t>
            </a:r>
          </a:p>
          <a:p>
            <a:pPr>
              <a:spcBef>
                <a:spcPts val="300"/>
              </a:spcBef>
              <a:defRPr sz="1100">
                <a:solidFill>
                  <a:srgbClr val="BBEECC"/>
                </a:solidFill>
              </a:defRPr>
            </a:pPr>
            <a:r>
              <a:t>  → Initial coverage ($5,030)</a:t>
            </a:r>
          </a:p>
          <a:p>
            <a:pPr>
              <a:spcBef>
                <a:spcPts val="300"/>
              </a:spcBef>
              <a:defRPr sz="1100">
                <a:solidFill>
                  <a:srgbClr val="BBEECC"/>
                </a:solidFill>
              </a:defRPr>
            </a:pPr>
            <a:r>
              <a:t>  → TrOOP tracking</a:t>
            </a:r>
          </a:p>
          <a:p>
            <a:pPr>
              <a:spcBef>
                <a:spcPts val="300"/>
              </a:spcBef>
              <a:defRPr sz="1100">
                <a:solidFill>
                  <a:srgbClr val="BBEECC"/>
                </a:solidFill>
              </a:defRPr>
            </a:pPr>
            <a:r>
              <a:t>  → Catastrophic phase ($8,000+)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029200"/>
            <a:ext cx="11064240" cy="1097280"/>
          </a:xfrm>
          <a:prstGeom prst="roundRect">
            <a:avLst/>
          </a:prstGeom>
          <a:solidFill>
            <a:srgbClr val="004D40"/>
          </a:solidFill>
          <a:ln w="19050">
            <a:solidFill>
              <a:srgbClr val="006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💉 Formulary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EECC"/>
                </a:solidFill>
              </a:defRPr>
            </a:pPr>
            <a:r>
              <a:t>First DataBank  |  Medi-Span  |  RED BOOK  |  NDC Pricing (AWP/WAC)  |  Prior Auth Rules  |  Step Therapy  |  Quantity Limits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AI-Powered Fraud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CC"/>
                </a:solidFill>
              </a:defRPr>
            </a:pPr>
            <a:r>
              <a:t>Multi-dimensional risk scoring with geographic and behavioral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486400" cy="2743200"/>
          </a:xfrm>
          <a:prstGeom prst="roundRect">
            <a:avLst/>
          </a:prstGeom>
          <a:solidFill>
            <a:srgbClr val="222238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🔍 Risk Scoring Engine (0-100)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</a:defRPr>
            </a:pPr>
            <a:r>
              <a:t>→ Geographic Anomaly — Impossible travel between claim locations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14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</a:defRPr>
            </a:pPr>
            <a:r>
              <a:t>→ Duplicate Claims — Same service, same date, multiple submissions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7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</a:defRPr>
            </a:pPr>
            <a:r>
              <a:t>→ Frequency Outliers — Abnormal visit/procedure patterns vs population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37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</a:defRPr>
            </a:pPr>
            <a:r>
              <a:t>→ Provider Anomaly — Billing patterns deviating from specialty norms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4903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</a:defRPr>
            </a:pPr>
            <a:r>
              <a:t>→ Member Clustering — Behavioral pattern analysis across members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554480"/>
            <a:ext cx="4754880" cy="1463040"/>
          </a:xfrm>
          <a:prstGeom prst="roundRect">
            <a:avLst/>
          </a:prstGeom>
          <a:solidFill>
            <a:srgbClr val="222238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645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📊 Scoring Weights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103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EE"/>
                </a:solidFill>
              </a:defRPr>
            </a:pPr>
            <a:r>
              <a:t>→ Demographic Risk 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3774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EE"/>
                </a:solidFill>
              </a:defRPr>
            </a:pPr>
            <a:r>
              <a:t>→ Condition Risk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651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EE"/>
                </a:solidFill>
              </a:defRPr>
            </a:pPr>
            <a:r>
              <a:t>→ Encounter Risk Weight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92607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EE"/>
                </a:solidFill>
              </a:defRPr>
            </a:pPr>
            <a:r>
              <a:t>→ Severity Adjustment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3291840"/>
            <a:ext cx="4754880" cy="1371600"/>
          </a:xfrm>
          <a:prstGeom prst="roundRect">
            <a:avLst/>
          </a:prstGeom>
          <a:solidFill>
            <a:srgbClr val="222238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3832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🎯 Alert Thresholds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840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C784"/>
                </a:solidFill>
              </a:defRPr>
            </a:pPr>
            <a:r>
              <a:t>→ &lt;30: Low Risk (auto-approve)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160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B74D"/>
                </a:solidFill>
              </a:defRPr>
            </a:pPr>
            <a:r>
              <a:t>→ 30-70: Medium (review required)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5350"/>
                </a:solidFill>
              </a:defRPr>
            </a:pPr>
            <a:r>
              <a:t>→ &gt;70: High Risk (investigation)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HEDIS Quality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CCEE"/>
                </a:solidFill>
              </a:defRPr>
            </a:pPr>
            <a:r>
              <a:t>13 measures across 6 domains for healthcare plan accreditation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474720" cy="2103120"/>
          </a:xfrm>
          <a:prstGeom prst="roundRect">
            <a:avLst/>
          </a:prstGeom>
          <a:solidFill>
            <a:srgbClr val="181E5C"/>
          </a:solidFill>
          <a:ln w="19050">
            <a:solidFill>
              <a:srgbClr val="4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39"/>
            <a:ext cx="31089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🎗️ Cancer Screening</a:t>
            </a:r>
          </a:p>
          <a:p>
            <a:pPr>
              <a:spcBef>
                <a:spcPts val="300"/>
              </a:spcBef>
              <a:defRPr sz="1100">
                <a:solidFill>
                  <a:srgbClr val="BBCCEE"/>
                </a:solidFill>
              </a:defRPr>
            </a:pPr>
            <a:r>
              <a:t>  → BCS: Breast (50-74)</a:t>
            </a:r>
          </a:p>
          <a:p>
            <a:pPr>
              <a:spcBef>
                <a:spcPts val="300"/>
              </a:spcBef>
              <a:defRPr sz="1100">
                <a:solidFill>
                  <a:srgbClr val="BBCCEE"/>
                </a:solidFill>
              </a:defRPr>
            </a:pPr>
            <a:r>
              <a:t>  → CCS: Colorectal (50-75)</a:t>
            </a:r>
          </a:p>
          <a:p>
            <a:pPr>
              <a:spcBef>
                <a:spcPts val="300"/>
              </a:spcBef>
              <a:defRPr sz="1100">
                <a:solidFill>
                  <a:srgbClr val="BBCCEE"/>
                </a:solidFill>
              </a:defRPr>
            </a:pPr>
            <a:r>
              <a:t>  → CMS: Cervical (21-65)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554480"/>
            <a:ext cx="3474720" cy="2103120"/>
          </a:xfrm>
          <a:prstGeom prst="roundRect">
            <a:avLst/>
          </a:prstGeom>
          <a:solidFill>
            <a:srgbClr val="181E5C"/>
          </a:solidFill>
          <a:ln w="19050">
            <a:solidFill>
              <a:srgbClr val="4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59" y="1691639"/>
            <a:ext cx="31089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💗 Chronic Conditions</a:t>
            </a:r>
          </a:p>
          <a:p>
            <a:pPr>
              <a:spcBef>
                <a:spcPts val="300"/>
              </a:spcBef>
              <a:defRPr sz="1100">
                <a:solidFill>
                  <a:srgbClr val="BBCCEE"/>
                </a:solidFill>
              </a:defRPr>
            </a:pPr>
            <a:r>
              <a:t>  → DBD: Diabetes A1C</a:t>
            </a:r>
          </a:p>
          <a:p>
            <a:pPr>
              <a:spcBef>
                <a:spcPts val="300"/>
              </a:spcBef>
              <a:defRPr sz="1100">
                <a:solidFill>
                  <a:srgbClr val="BBCCEE"/>
                </a:solidFill>
              </a:defRPr>
            </a:pPr>
            <a:r>
              <a:t>  → HBD: Hypertension BP</a:t>
            </a:r>
          </a:p>
          <a:p>
            <a:pPr>
              <a:spcBef>
                <a:spcPts val="300"/>
              </a:spcBef>
              <a:defRPr sz="1100">
                <a:solidFill>
                  <a:srgbClr val="BBCCEE"/>
                </a:solidFill>
              </a:defRPr>
            </a:pPr>
            <a:r>
              <a:t>  → WDD: Well-Controlled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1554480"/>
            <a:ext cx="3474720" cy="2103120"/>
          </a:xfrm>
          <a:prstGeom prst="roundRect">
            <a:avLst/>
          </a:prstGeom>
          <a:solidFill>
            <a:srgbClr val="181E5C"/>
          </a:solidFill>
          <a:ln w="19050">
            <a:solidFill>
              <a:srgbClr val="4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9" y="1691639"/>
            <a:ext cx="31089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🧠 Behavioral Health</a:t>
            </a:r>
          </a:p>
          <a:p>
            <a:pPr>
              <a:spcBef>
                <a:spcPts val="300"/>
              </a:spcBef>
              <a:defRPr sz="1100">
                <a:solidFill>
                  <a:srgbClr val="BBCCEE"/>
                </a:solidFill>
              </a:defRPr>
            </a:pPr>
            <a:r>
              <a:t>  → BBD: Follow-up Post-DC</a:t>
            </a:r>
          </a:p>
          <a:p>
            <a:pPr>
              <a:spcBef>
                <a:spcPts val="300"/>
              </a:spcBef>
              <a:defRPr sz="1100">
                <a:solidFill>
                  <a:srgbClr val="BBCCEE"/>
                </a:solidFill>
              </a:defRPr>
            </a:pPr>
            <a:r>
              <a:t>  → ADD: Antidepressant Mgmt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23360"/>
            <a:ext cx="3474720" cy="2103120"/>
          </a:xfrm>
          <a:prstGeom prst="roundRect">
            <a:avLst/>
          </a:prstGeom>
          <a:solidFill>
            <a:srgbClr val="181E5C"/>
          </a:solidFill>
          <a:ln w="19050">
            <a:solidFill>
              <a:srgbClr val="4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31089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👶 Pediatric Quality</a:t>
            </a:r>
          </a:p>
          <a:p>
            <a:pPr>
              <a:spcBef>
                <a:spcPts val="300"/>
              </a:spcBef>
              <a:defRPr sz="1100">
                <a:solidFill>
                  <a:srgbClr val="BBCCEE"/>
                </a:solidFill>
              </a:defRPr>
            </a:pPr>
            <a:r>
              <a:t>  → Well-Child Visits</a:t>
            </a:r>
          </a:p>
          <a:p>
            <a:pPr>
              <a:spcBef>
                <a:spcPts val="300"/>
              </a:spcBef>
              <a:defRPr sz="1100">
                <a:solidFill>
                  <a:srgbClr val="BBCCEE"/>
                </a:solidFill>
              </a:defRPr>
            </a:pPr>
            <a:r>
              <a:t>  → Immunization Completion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4023360"/>
            <a:ext cx="3474720" cy="2103120"/>
          </a:xfrm>
          <a:prstGeom prst="roundRect">
            <a:avLst/>
          </a:prstGeom>
          <a:solidFill>
            <a:srgbClr val="181E5C"/>
          </a:solidFill>
          <a:ln w="19050">
            <a:solidFill>
              <a:srgbClr val="4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4160520"/>
            <a:ext cx="31089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🔔 Gaps in Care</a:t>
            </a:r>
          </a:p>
          <a:p>
            <a:pPr>
              <a:spcBef>
                <a:spcPts val="300"/>
              </a:spcBef>
              <a:defRPr sz="1100">
                <a:solidFill>
                  <a:srgbClr val="BBCCEE"/>
                </a:solidFill>
              </a:defRPr>
            </a:pPr>
            <a:r>
              <a:t>  → Priority Scoring (H/M/L)</a:t>
            </a:r>
          </a:p>
          <a:p>
            <a:pPr>
              <a:spcBef>
                <a:spcPts val="300"/>
              </a:spcBef>
              <a:defRPr sz="1100">
                <a:solidFill>
                  <a:srgbClr val="BBCCEE"/>
                </a:solidFill>
              </a:defRPr>
            </a:pPr>
            <a:r>
              <a:t>  → Service Recommendations</a:t>
            </a:r>
          </a:p>
          <a:p>
            <a:pPr>
              <a:spcBef>
                <a:spcPts val="300"/>
              </a:spcBef>
              <a:defRPr sz="1100">
                <a:solidFill>
                  <a:srgbClr val="BBCCEE"/>
                </a:solidFill>
              </a:defRPr>
            </a:pPr>
            <a:r>
              <a:t>  → Member Outreach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4023360"/>
            <a:ext cx="3474720" cy="2103120"/>
          </a:xfrm>
          <a:prstGeom prst="roundRect">
            <a:avLst/>
          </a:prstGeom>
          <a:solidFill>
            <a:srgbClr val="181E5C"/>
          </a:solidFill>
          <a:ln w="19050">
            <a:solidFill>
              <a:srgbClr val="40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4160520"/>
            <a:ext cx="310896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🏆 Plan Accreditation</a:t>
            </a:r>
          </a:p>
          <a:p>
            <a:pPr>
              <a:spcBef>
                <a:spcPts val="300"/>
              </a:spcBef>
              <a:defRPr sz="1100">
                <a:solidFill>
                  <a:srgbClr val="BBCCEE"/>
                </a:solidFill>
              </a:defRPr>
            </a:pPr>
            <a:r>
              <a:t>  → NCQA Star Ratings</a:t>
            </a:r>
          </a:p>
          <a:p>
            <a:pPr>
              <a:spcBef>
                <a:spcPts val="300"/>
              </a:spcBef>
              <a:defRPr sz="1100">
                <a:solidFill>
                  <a:srgbClr val="BBCCEE"/>
                </a:solidFill>
              </a:defRPr>
            </a:pPr>
            <a:r>
              <a:t>  → Compliance Dashboards</a:t>
            </a:r>
          </a:p>
          <a:p>
            <a:pPr>
              <a:spcBef>
                <a:spcPts val="300"/>
              </a:spcBef>
              <a:defRPr sz="1100">
                <a:solidFill>
                  <a:srgbClr val="BBCCEE"/>
                </a:solidFill>
              </a:defRPr>
            </a:pPr>
            <a:r>
              <a:t>  → Trend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CC"/>
                </a:solidFill>
              </a:defRPr>
            </a:pPr>
            <a:r>
              <a:t>Modern cloud-native stack built on Azure serverless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474720" cy="2011680"/>
          </a:xfrm>
          <a:prstGeom prst="roundRect">
            <a:avLst/>
          </a:prstGeom>
          <a:solidFill>
            <a:srgbClr val="222238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⚡ Azure Functions (.NET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</a:defRPr>
            </a:pPr>
            <a:r>
              <a:t>Isolated worker, consumption billing (FREE 1M req/month), event-driven claims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554480"/>
            <a:ext cx="3474720" cy="2011680"/>
          </a:xfrm>
          <a:prstGeom prst="roundRect">
            <a:avLst/>
          </a:prstGeom>
          <a:solidFill>
            <a:srgbClr val="222238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🌐 Blazor WASM (.NET 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1945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</a:defRPr>
            </a:pPr>
            <a:r>
              <a:t>Client-side WebAssembly with OpenTelemetry, FHIR R4 data models, AI NLP assistant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554480"/>
            <a:ext cx="3474720" cy="2011680"/>
          </a:xfrm>
          <a:prstGeom prst="roundRect">
            <a:avLst/>
          </a:prstGeom>
          <a:solidFill>
            <a:srgbClr val="222238"/>
          </a:solidFill>
          <a:ln w="19050">
            <a:solidFill>
              <a:srgbClr val="283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9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🏥 AHDS FHIR R4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9" y="21945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</a:defRPr>
            </a:pPr>
            <a:r>
              <a:t>Standards-compliant healthcare data — Claims, Coverage, Patient, ClaimResponse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3474720" cy="2011680"/>
          </a:xfrm>
          <a:prstGeom prst="roundRect">
            <a:avLst/>
          </a:prstGeom>
          <a:solidFill>
            <a:srgbClr val="222238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💾 Cosmos DB Serverless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</a:defRPr>
            </a:pPr>
            <a:r>
              <a:t>FREE tier + analytical storage for audit trail, claims data, and MDM golden records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3931920"/>
            <a:ext cx="3474720" cy="2011680"/>
          </a:xfrm>
          <a:prstGeom prst="roundRect">
            <a:avLst/>
          </a:prstGeom>
          <a:solidFill>
            <a:srgbClr val="222238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📡 Event 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4572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</a:defRPr>
            </a:pPr>
            <a:r>
              <a:t>Event-driven architecture for claims pipeline, notifications, downstream processing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931920"/>
            <a:ext cx="3474720" cy="2011680"/>
          </a:xfrm>
          <a:prstGeom prst="roundRect">
            <a:avLst/>
          </a:prstGeom>
          <a:solidFill>
            <a:srgbClr val="222238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9" y="4114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📊 Microsoft Fabric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4572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</a:defRPr>
            </a:pPr>
            <a:r>
              <a:t>Optional analytics layer with OneLake, Lakehouse, Power BI DirectLake reporting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1B9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End-to-End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BBEE"/>
                </a:solidFill>
              </a:defRPr>
            </a:pPr>
            <a:r>
              <a:t>From claim ingestion to payment with event-driven architecture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1554480"/>
            <a:ext cx="9875520" cy="914400"/>
          </a:xfrm>
          <a:prstGeom prst="roundRect">
            <a:avLst/>
          </a:prstGeom>
          <a:solidFill>
            <a:srgbClr val="3A2A7E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00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Claim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2024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CCEE"/>
                </a:solidFill>
              </a:defRPr>
            </a:pPr>
            <a:r>
              <a:t>CSV/EDI 837 uploaded via API → CsvIngestFn / EdiIngestFn maps to FHIR Claim Resource → persisted to AHDS FHIR R4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834640"/>
            <a:ext cx="548640" cy="54864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2743200"/>
            <a:ext cx="9875520" cy="914400"/>
          </a:xfrm>
          <a:prstGeom prst="roundRect">
            <a:avLst/>
          </a:prstGeom>
          <a:solidFill>
            <a:srgbClr val="3A2A7E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788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4-Step Adjudication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10896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CCEE"/>
                </a:solidFill>
              </a:defRPr>
            </a:pPr>
            <a:r>
              <a:t>RulesEngineFn validates: Coverage → Network → Eligibility → Financial. PaymentCalculatorService computes amounts.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023359"/>
            <a:ext cx="548640" cy="548640"/>
          </a:xfrm>
          <a:prstGeom prst="ellips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3931920"/>
            <a:ext cx="9875520" cy="914400"/>
          </a:xfrm>
          <a:prstGeom prst="roundRect">
            <a:avLst/>
          </a:prstGeom>
          <a:solidFill>
            <a:srgbClr val="3A2A7E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9776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Fraud &amp;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29768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CCEE"/>
                </a:solidFill>
              </a:defRPr>
            </a:pPr>
            <a:r>
              <a:t>RiskScoringEngine evaluates fraud risk (0-100). HedisService checks gaps. MdmMatchingService deduplicates.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212080"/>
            <a:ext cx="548640" cy="54864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5120640"/>
            <a:ext cx="9875520" cy="914400"/>
          </a:xfrm>
          <a:prstGeom prst="roundRect">
            <a:avLst/>
          </a:prstGeom>
          <a:solidFill>
            <a:srgbClr val="3A2A7E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5166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Persist &amp; Publish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48640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DCCEE"/>
                </a:solidFill>
              </a:defRPr>
            </a:pPr>
            <a:r>
              <a:t>CosmosAudit logs immutable audit trail. EventPublisher emits claim events to Event Grid. EOBFn generates EOB.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D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Security &amp; HIPAA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EECC"/>
                </a:solidFill>
              </a:defRPr>
            </a:pPr>
            <a:r>
              <a:t>Zero Trust architecture with enterprise-grade healthcare safeguards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🔐 Authentication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474720" cy="822960"/>
          </a:xfrm>
          <a:prstGeom prst="roundRect">
            <a:avLst/>
          </a:prstGeom>
          <a:solidFill>
            <a:srgbClr val="003D30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4027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E6C9"/>
                </a:solidFill>
              </a:defRPr>
            </a:pPr>
            <a:r>
              <a:t>✅ Azure AD OAuth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54679"/>
            <a:ext cx="3474720" cy="822960"/>
          </a:xfrm>
          <a:prstGeom prst="roundRect">
            <a:avLst/>
          </a:prstGeom>
          <a:solidFill>
            <a:srgbClr val="003D30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918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E6C9"/>
                </a:solidFill>
              </a:defRPr>
            </a:pPr>
            <a:r>
              <a:t>✅ Managed Identity (all services)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3474720" cy="822960"/>
          </a:xfrm>
          <a:prstGeom prst="roundRect">
            <a:avLst/>
          </a:prstGeom>
          <a:solidFill>
            <a:srgbClr val="003D30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E6C9"/>
                </a:solidFill>
              </a:defRPr>
            </a:pPr>
            <a:r>
              <a:t>✅ FHIR Data Contributor RBAC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257800"/>
            <a:ext cx="3474720" cy="822960"/>
          </a:xfrm>
          <a:prstGeom prst="roundRect">
            <a:avLst/>
          </a:prstGeom>
          <a:solidFill>
            <a:srgbClr val="003D30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E6C9"/>
                </a:solidFill>
              </a:defRPr>
            </a:pPr>
            <a:r>
              <a:t>✅ DefaultAzureCredential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🛡️ Data Protection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2103120"/>
            <a:ext cx="3474720" cy="822960"/>
          </a:xfrm>
          <a:prstGeom prst="roundRect">
            <a:avLst/>
          </a:prstGeom>
          <a:solidFill>
            <a:srgbClr val="003D30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224027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E6C9"/>
                </a:solidFill>
              </a:defRPr>
            </a:pPr>
            <a:r>
              <a:t>✅ TLS 1.3 in Transit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3154679"/>
            <a:ext cx="3474720" cy="822960"/>
          </a:xfrm>
          <a:prstGeom prst="roundRect">
            <a:avLst/>
          </a:prstGeom>
          <a:solidFill>
            <a:srgbClr val="003D30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32918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E6C9"/>
                </a:solidFill>
              </a:defRPr>
            </a:pPr>
            <a:r>
              <a:t>✅ AES-256 at Rest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4206240"/>
            <a:ext cx="3474720" cy="822960"/>
          </a:xfrm>
          <a:prstGeom prst="roundRect">
            <a:avLst/>
          </a:prstGeom>
          <a:solidFill>
            <a:srgbClr val="003D30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4343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E6C9"/>
                </a:solidFill>
              </a:defRPr>
            </a:pPr>
            <a:r>
              <a:t>✅ PHI/PII Data Labels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5257800"/>
            <a:ext cx="3474720" cy="822960"/>
          </a:xfrm>
          <a:prstGeom prst="roundRect">
            <a:avLst/>
          </a:prstGeom>
          <a:solidFill>
            <a:srgbClr val="003D30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5394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E6C9"/>
                </a:solidFill>
              </a:defRPr>
            </a:pPr>
            <a:r>
              <a:t>✅ HIPAA BAA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📋 Operations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2103120"/>
            <a:ext cx="3474720" cy="822960"/>
          </a:xfrm>
          <a:prstGeom prst="roundRect">
            <a:avLst/>
          </a:prstGeom>
          <a:solidFill>
            <a:srgbClr val="003D30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9" y="224027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E6C9"/>
                </a:solidFill>
              </a:defRPr>
            </a:pPr>
            <a:r>
              <a:t>✅ Immutable Audit Trail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3154679"/>
            <a:ext cx="3474720" cy="822960"/>
          </a:xfrm>
          <a:prstGeom prst="roundRect">
            <a:avLst/>
          </a:prstGeom>
          <a:solidFill>
            <a:srgbClr val="003D30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9" y="32918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E6C9"/>
                </a:solidFill>
              </a:defRPr>
            </a:pPr>
            <a:r>
              <a:t>✅ OIDC CI/CD (no secrets)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4206240"/>
            <a:ext cx="3474720" cy="822960"/>
          </a:xfrm>
          <a:prstGeom prst="roundRect">
            <a:avLst/>
          </a:prstGeom>
          <a:solidFill>
            <a:srgbClr val="003D30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9" y="4343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E6C9"/>
                </a:solidFill>
              </a:defRPr>
            </a:pPr>
            <a:r>
              <a:t>✅ App Insights Monitoring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5257800"/>
            <a:ext cx="3474720" cy="822960"/>
          </a:xfrm>
          <a:prstGeom prst="roundRect">
            <a:avLst/>
          </a:prstGeom>
          <a:solidFill>
            <a:srgbClr val="003D30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9" y="5394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8E6C9"/>
                </a:solidFill>
              </a:defRPr>
            </a:pPr>
            <a:r>
              <a:t>✅ FHIR R4 Interoperability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💰 Cost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CC"/>
                </a:solidFill>
              </a:defRPr>
            </a:pPr>
            <a:r>
              <a:t>Production-ready platform at $5-15/month (without Fabric)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486400" cy="4754880"/>
          </a:xfrm>
          <a:prstGeom prst="roundRect">
            <a:avLst/>
          </a:prstGeom>
          <a:solidFill>
            <a:srgbClr val="222238"/>
          </a:solidFill>
          <a:ln w="1905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</a:defRPr>
            </a:pPr>
            <a:r>
              <a:t>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</a:defRPr>
            </a:pPr>
            <a:r>
              <a:t>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AA"/>
                </a:solidFill>
              </a:defRPr>
            </a:pPr>
            <a:r>
              <a:t>MONTHLY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Azure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Consumption Y1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FREE (1M req)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420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AHDS FHIR R4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5420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Consumption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420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~$5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8094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Cosmos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9809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Serverless + 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8094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~$0-3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41985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Static Web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41985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Free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41985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$0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587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App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8587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Free (5GB)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8587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</a:defRPr>
            </a:pPr>
            <a:r>
              <a:t>$0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976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Storage (ADLS)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2976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Standard LRS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2976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~$2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7365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Event Grid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7365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Per-event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7365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&lt;$1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CORE TOTAL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</a:defRPr>
            </a:pPr>
            <a:r>
              <a:t>~$5-15/mo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852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CC"/>
                </a:solidFill>
              </a:defRPr>
            </a:pPr>
            <a:r>
              <a:t>Fabric F2 (optional)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852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5100"/>
                </a:solidFill>
              </a:defRPr>
            </a:pPr>
            <a:r>
              <a:t>$524/mo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1554480"/>
            <a:ext cx="4754880" cy="2011680"/>
          </a:xfrm>
          <a:prstGeom prst="roundRect">
            <a:avLst/>
          </a:prstGeom>
          <a:solidFill>
            <a:srgbClr val="222238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1645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🆓 Free Tier Strategy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EECC"/>
                </a:solidFill>
              </a:defRPr>
            </a:pPr>
            <a:r>
              <a:t>→ Functions: 1M req/month FREE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2423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EECC"/>
                </a:solidFill>
              </a:defRPr>
            </a:pPr>
            <a:r>
              <a:t>→ Cosmos DB: FREE tier (1000 RU/s)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EECC"/>
                </a:solidFill>
              </a:defRPr>
            </a:pPr>
            <a:r>
              <a:t>→ Static Web App: FREE hosting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30632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EECC"/>
                </a:solidFill>
              </a:defRPr>
            </a:pPr>
            <a:r>
              <a:t>→ App Insights: 5GB/month FREE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33832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EECC"/>
                </a:solidFill>
              </a:defRPr>
            </a:pPr>
            <a:r>
              <a:t>→ Fabric: 60-day FREE trial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5120" y="3840480"/>
            <a:ext cx="4754880" cy="2377440"/>
          </a:xfrm>
          <a:prstGeom prst="roundRect">
            <a:avLst/>
          </a:prstGeom>
          <a:solidFill>
            <a:srgbClr val="222238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3931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⏰ Cost Controls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389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CCAA"/>
                </a:solidFill>
              </a:defRPr>
            </a:pPr>
            <a:r>
              <a:t>→ Logic Apps auto-pause Fabric at 6PM 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70915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CCAA"/>
                </a:solidFill>
              </a:defRPr>
            </a:pPr>
            <a:r>
              <a:t>→ Cosmos DB serverless: pay-per-RU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5029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CCAA"/>
                </a:solidFill>
              </a:defRPr>
            </a:pPr>
            <a:r>
              <a:t>→ OneLake shortcuts: zero-copy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349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CCAA"/>
                </a:solidFill>
              </a:defRPr>
            </a:pPr>
            <a:r>
              <a:t>→ ADLS Gen2: minimal storage costs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6692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ECCAA"/>
                </a:solidFill>
              </a:defRPr>
            </a:pPr>
            <a:r>
              <a:t>→ OIDC CI/CD: no paid secrets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F3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Deployment &amp;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CAA"/>
                </a:solidFill>
              </a:defRPr>
            </a:pPr>
            <a:r>
              <a:t>Fully automated with GitHub Actions and Infrastructure as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2286000"/>
          </a:xfrm>
          <a:prstGeom prst="roundRect">
            <a:avLst/>
          </a:prstGeom>
          <a:solidFill>
            <a:srgbClr val="8B2B0A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🚀 Quick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DBB"/>
                </a:solidFill>
              </a:defRPr>
            </a:pPr>
            <a:r>
              <a:t># Deploy Infrastructure (Bicep)</a:t>
            </a:r>
            <a:br/>
            <a:r>
              <a:t>az deployment group create \</a:t>
            </a:r>
            <a:br/>
            <a:r>
              <a:t>  --resource-group rg-claims-rules-nonprod \</a:t>
            </a:r>
            <a:br/>
            <a:r>
              <a:t>  --template-file infra/main.bicep</a:t>
            </a:r>
            <a:br/>
            <a:br/>
            <a:r>
              <a:t># Run Portal Locally</a:t>
            </a:r>
            <a:br/>
            <a:r>
              <a:t>cd ClaimsPortal.BlazorWasm</a:t>
            </a:r>
            <a:br/>
            <a:r>
              <a:t>dotnet run  # http://localhost:5090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303520" cy="2011680"/>
          </a:xfrm>
          <a:prstGeom prst="roundRect">
            <a:avLst/>
          </a:prstGeom>
          <a:solidFill>
            <a:srgbClr val="8B2B0A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🔨 CI/CD Workflows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DBB"/>
                </a:solidFill>
              </a:defRPr>
            </a:pPr>
            <a:r>
              <a:t>→ ci.yml — Build .NET 8 + .NET 10, unit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029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DBB"/>
                </a:solidFill>
              </a:defRPr>
            </a:pPr>
            <a:r>
              <a:t>→ deploy-infra.yml — Bicep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3949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DBB"/>
                </a:solidFill>
              </a:defRPr>
            </a:pPr>
            <a:r>
              <a:t>→ deploy-function-app.yml — API → Azure Functions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760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DBB"/>
                </a:solidFill>
              </a:defRPr>
            </a:pPr>
            <a:r>
              <a:t>→ deploy-blazor-portal.yml — WASM → Static Web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554480"/>
            <a:ext cx="5029200" cy="2286000"/>
          </a:xfrm>
          <a:prstGeom prst="roundRect">
            <a:avLst/>
          </a:prstGeom>
          <a:solidFill>
            <a:srgbClr val="8B2B0A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6459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🔐 OIDC 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1031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DBB"/>
                </a:solidFill>
              </a:defRPr>
            </a:pPr>
            <a:r>
              <a:t>→ Federated credentials — passwordless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46887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DBB"/>
                </a:solidFill>
              </a:defRPr>
            </a:pPr>
            <a:r>
              <a:t>→ No stored secrets in 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83463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DBB"/>
                </a:solidFill>
              </a:defRPr>
            </a:pPr>
            <a:r>
              <a:t>→ Resource group scoped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200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DBB"/>
                </a:solidFill>
              </a:defRPr>
            </a:pPr>
            <a:r>
              <a:t>→ Automated secret rotation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566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DBB"/>
                </a:solidFill>
              </a:defRPr>
            </a:pPr>
            <a:r>
              <a:t>→ FHIR Data Contributor RBAC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114800"/>
            <a:ext cx="5029200" cy="2011680"/>
          </a:xfrm>
          <a:prstGeom prst="roundRect">
            <a:avLst/>
          </a:prstGeom>
          <a:solidFill>
            <a:srgbClr val="8B2B0A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2062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🗂️ Infrastructure as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663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DBB"/>
                </a:solidFill>
              </a:defRPr>
            </a:pPr>
            <a:r>
              <a:t>→ Bicep templates for all Azure resources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0292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DBB"/>
                </a:solidFill>
              </a:defRPr>
            </a:pPr>
            <a:r>
              <a:t>→ AHDS, Cosmos DB, Storage, Event Grid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394959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DBB"/>
                </a:solidFill>
              </a:defRPr>
            </a:pPr>
            <a:r>
              <a:t>→ Static Web App + Fabric scheduler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760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DBB"/>
                </a:solidFill>
              </a:defRPr>
            </a:pPr>
            <a:r>
              <a:t>→ Parameterized for environments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8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DDFF"/>
                </a:solidFill>
              </a:defRPr>
            </a:pPr>
            <a:r>
              <a:t>Azure Healthcare Claims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47472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Full-stack claims adjudication. AI-powered fraud detection.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862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13 HEDIS quality measures. Master data management.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29768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Multi-benefit (Medical + Dental + Pharmacy). HIPAA-ready.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70916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~$5-15/month on Azure serverless.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5303520"/>
            <a:ext cx="1188720" cy="32004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BDDFF"/>
                </a:solidFill>
              </a:defRPr>
            </a:pPr>
            <a:r>
              <a:t>#AzureFHIR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5303520"/>
            <a:ext cx="1188720" cy="32004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BDDFF"/>
                </a:solidFill>
              </a:defRPr>
            </a:pPr>
            <a:r>
              <a:t>#Claims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5303520"/>
            <a:ext cx="1188720" cy="32004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BDDFF"/>
                </a:solidFill>
              </a:defRPr>
            </a:pPr>
            <a:r>
              <a:t>#FraudDetection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59" y="5303520"/>
            <a:ext cx="1188720" cy="32004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BDDFF"/>
                </a:solidFill>
              </a:defRPr>
            </a:pPr>
            <a:r>
              <a:t>#HEDIS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5303520"/>
            <a:ext cx="1188720" cy="32004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BDDFF"/>
                </a:solidFill>
              </a:defRPr>
            </a:pPr>
            <a:r>
              <a:t>#HIPAA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5303520"/>
            <a:ext cx="1188720" cy="32004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BDDFF"/>
                </a:solidFill>
              </a:defRPr>
            </a:pPr>
            <a:r>
              <a:t>#Serverless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5303520"/>
            <a:ext cx="1188720" cy="320040"/>
          </a:xfrm>
          <a:prstGeom prst="roundRect">
            <a:avLst/>
          </a:prstGeom>
          <a:solidFill>
            <a:srgbClr val="00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BDDFF"/>
                </a:solidFill>
              </a:defRPr>
            </a:pPr>
            <a:r>
              <a:t>#ZeroTrust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7607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AADD"/>
                </a:solidFill>
              </a:defRPr>
            </a:pPr>
            <a:r>
              <a:t>March 2026  |  Full Bundle  |  Internal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